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731520"/>
            <a:ext cx="3200400" cy="3200400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937760"/>
            <a:ext cx="914400" cy="914400"/>
          </a:xfrm>
          <a:prstGeom prst="ellipse">
            <a:avLst/>
          </a:prstGeom>
          <a:solidFill>
            <a:srgbClr val="DCE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CE779"/>
                </a:solidFill>
                <a:latin typeface="Aptos"/>
              </a:rPr>
              <a:t>PROJECT REVIEW  /  JAVA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353312"/>
            <a:ext cx="65836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Personal Finance
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584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6E4DD"/>
                </a:solidFill>
                <a:latin typeface="Aptos"/>
              </a:rPr>
              <a:t>A practical workspace for tracking expenses, planning budgets, and keeping savings goals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28032"/>
            <a:ext cx="5349240" cy="438912"/>
          </a:xfrm>
          <a:prstGeom prst="roundRect">
            <a:avLst>
              <a:gd name="adj" fmla="val 8000"/>
            </a:avLst>
          </a:prstGeom>
          <a:solidFill>
            <a:srgbClr val="24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9377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JAVA 11+   ·   SERVLETS + JSP   ·   TOMCAT 9   ·   MYSQL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8CFC2"/>
                </a:solidFill>
                <a:latin typeface="Aptos"/>
              </a:rPr>
              <a:t>REVIEW DECK  ·  02 OCTOBER 2026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5272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8CFC2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8CFC2"/>
                </a:solidFill>
                <a:latin typeface="Aptos"/>
              </a:rPr>
              <a:t>02 OCT 2026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01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Everyday money, in one focused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Three connected jobs keep personal finance activity organized.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64008" cy="2148840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2990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01   /   EXPENSES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7802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Track spending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16936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Record dated expenses with a category, amount, and optional description. Review or remove entries from your own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9659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E1EEE7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965960"/>
            <a:ext cx="64008" cy="2148840"/>
          </a:xfrm>
          <a:prstGeom prst="rect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167128"/>
            <a:ext cx="2990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02   /   BUDGETS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7802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Plan with budgets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916936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Set a category limit for a monthly or yearly period, then keep budget totals visible alongside spending.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96596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BEAE5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965960"/>
            <a:ext cx="64008" cy="2148840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167128"/>
            <a:ext cx="2990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03   /  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7802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Save toward 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916936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Give a savings target a name, amount, and deadline so future priorities have a place in the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89204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3F35"/>
                </a:solidFill>
                <a:latin typeface="Aptos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89204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3F35"/>
                </a:solidFill>
                <a:latin typeface="Aptos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89204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3F35"/>
                </a:solidFill>
                <a:latin typeface="Aptos"/>
              </a:rPr>
              <a:t>REVIEW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60520" y="4846320"/>
            <a:ext cx="384048" cy="274320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818120" y="4846320"/>
            <a:ext cx="384048" cy="274320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5376672"/>
            <a:ext cx="10698480" cy="512064"/>
          </a:xfrm>
          <a:prstGeom prst="roundRect">
            <a:avLst>
              <a:gd name="adj" fmla="val 8000"/>
            </a:avLst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532120"/>
            <a:ext cx="10195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One account  →  personal records  →  a dashboard that points to the next useful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02 /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Dashboard, from welcome to next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A composed view of three genuine dashboard regions from the running app.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65376"/>
            <a:ext cx="6675120" cy="3182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58" y="1865376"/>
            <a:ext cx="5881467" cy="3182112"/>
          </a:xfrm>
          <a:prstGeom prst="rect">
            <a:avLst/>
          </a:prstGeom>
        </p:spPr>
      </p:pic>
      <p:pic>
        <p:nvPicPr>
          <p:cNvPr id="10" name="Picture 9" descr="dashboard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93792"/>
            <a:ext cx="6675120" cy="1042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54112" y="190195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634C"/>
                </a:solidFill>
                <a:latin typeface="Aptos"/>
              </a:rPr>
              <a:t>QUICK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219456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_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195854"/>
            <a:ext cx="3474720" cy="187193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7754112" y="4343400"/>
            <a:ext cx="109728" cy="109728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315968"/>
            <a:ext cx="32552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Visible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4590288"/>
            <a:ext cx="3255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The signed-in account and USER/ADMIN role remain easy to spot.</a:t>
            </a:r>
          </a:p>
        </p:txBody>
      </p:sp>
      <p:sp>
        <p:nvSpPr>
          <p:cNvPr id="17" name="Oval 16"/>
          <p:cNvSpPr/>
          <p:nvPr/>
        </p:nvSpPr>
        <p:spPr>
          <a:xfrm>
            <a:off x="7754112" y="5166360"/>
            <a:ext cx="109728" cy="109728"/>
          </a:xfrm>
          <a:prstGeom prst="ellipse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5138928"/>
            <a:ext cx="32552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Linked totals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5413248"/>
            <a:ext cx="3255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Expenses, budgets, and goals open their detail lists.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91072"/>
            <a:ext cx="6583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66756E"/>
                </a:solidFill>
                <a:latin typeface="Aptos"/>
              </a:rPr>
              <a:t>KPI VALUES USE TEMPORARY REVIEW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03 / DAILY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The detail pages make the records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Forms and lists keep entry simple and make saved data easy to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38528"/>
            <a:ext cx="336499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pens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63551"/>
            <a:ext cx="3364992" cy="1562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437083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Expenses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78231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Date · category · amount ·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938528"/>
            <a:ext cx="336499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dge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505576"/>
            <a:ext cx="3364992" cy="1078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437083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Budgets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78231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Period limits and stored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938528"/>
            <a:ext cx="336499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oal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2643195"/>
            <a:ext cx="3364992" cy="8035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74736" y="437083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78231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Targets · progress · deadline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532120"/>
            <a:ext cx="10652760" cy="493776"/>
          </a:xfrm>
          <a:prstGeom prst="roundRect">
            <a:avLst>
              <a:gd name="adj" fmla="val 8000"/>
            </a:avLst>
          </a:prstGeom>
          <a:solidFill>
            <a:srgbClr val="E1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87568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3F35"/>
                </a:solidFill>
                <a:latin typeface="Aptos"/>
              </a:rPr>
              <a:t>The current user sees only their own records; admin reporting is a separate, role-guarded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04 / ACCESS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Registration is open; admin creation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Role is assigned by the server and checked again on protected routes.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65376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93976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PUBLIC REGISTRATION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24528" y="2048256"/>
            <a:ext cx="457200" cy="274320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8032" y="1865376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E1EEE7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209397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83F35"/>
                </a:solidFill>
                <a:latin typeface="Aptos"/>
              </a:rPr>
              <a:t>USER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0939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756E"/>
                </a:solidFill>
                <a:latin typeface="Aptos"/>
              </a:rPr>
              <a:t>Registration always assigns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907792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SHARED LOGIN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24528" y="3099816"/>
            <a:ext cx="457200" cy="274320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28032" y="2788920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E1EEE7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0175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83F35"/>
                </a:solidFill>
                <a:latin typeface="Aptos"/>
              </a:rPr>
              <a:t>USER →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3584448"/>
            <a:ext cx="2880360" cy="658368"/>
          </a:xfrm>
          <a:prstGeom prst="roundRect">
            <a:avLst>
              <a:gd name="adj" fmla="val 8000"/>
            </a:avLst>
          </a:prstGeom>
          <a:solidFill>
            <a:srgbClr val="FBEAE5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8130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9634C"/>
                </a:solidFill>
                <a:latin typeface="Aptos"/>
              </a:rPr>
              <a:t>ADMIN → ADMIN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32004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756E"/>
                </a:solidFill>
                <a:latin typeface="Aptos"/>
              </a:rPr>
              <a:t>role-aware redirect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6344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88289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ADMIN-ONLY /admin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23036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4DD"/>
                </a:solidFill>
                <a:latin typeface="Aptos"/>
              </a:rPr>
              <a:t>Create admin accounts  ·  inspect cross-user records  ·  reject non-admin sessions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66344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DCE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8289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3229"/>
                </a:solidFill>
                <a:latin typeface="Aptos"/>
              </a:rPr>
              <a:t>USER 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303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03229"/>
                </a:solidFill>
                <a:latin typeface="Aptos"/>
              </a:rPr>
              <a:t>Manage personal expenses, budgets, goals, and 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05 / ADMIN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Admin tools are protected, not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The admin route requires an authenticated ADMIN session before it can show the account form or records.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38528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create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18598"/>
            <a:ext cx="5486400" cy="268597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720840" y="2057400"/>
            <a:ext cx="109728" cy="109728"/>
          </a:xfrm>
          <a:prstGeom prst="ellipse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0296" y="2029968"/>
            <a:ext cx="4261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Create admin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2304288"/>
            <a:ext cx="42611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Only an existing administrator can create another admin login.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3264408"/>
            <a:ext cx="109728" cy="109728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3236976"/>
            <a:ext cx="4261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Review all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3511296"/>
            <a:ext cx="42611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The admin view lists users and cross-user finance records read-only.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4471416"/>
            <a:ext cx="109728" cy="109728"/>
          </a:xfrm>
          <a:prstGeom prst="ellipse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6" y="4443984"/>
            <a:ext cx="4261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Server-side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718304"/>
            <a:ext cx="42611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Unauthenticated visitors go to login; non-admin users receive 403.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1324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SCREENSHOT CROPPED TO ACCOUNT-CREATION PANEL; USER EMAILS OMITTED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06 /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One account anchors three record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Every finance record carries a user_id foreign key; personal queries filter by the signed-in owner.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01568" y="3950208"/>
            <a:ext cx="1673352" cy="0"/>
          </a:xfrm>
          <a:prstGeom prst="line">
            <a:avLst/>
          </a:prstGeom>
          <a:ln w="254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4920" y="2514600"/>
            <a:ext cx="0" cy="3227832"/>
          </a:xfrm>
          <a:prstGeom prst="line">
            <a:avLst/>
          </a:prstGeom>
          <a:ln w="254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74920" y="2542032"/>
            <a:ext cx="1645920" cy="0"/>
          </a:xfrm>
          <a:prstGeom prst="line">
            <a:avLst/>
          </a:prstGeom>
          <a:ln w="25400">
            <a:solidFill>
              <a:srgbClr val="D96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74920" y="4133087"/>
            <a:ext cx="1645920" cy="0"/>
          </a:xfrm>
          <a:prstGeom prst="line">
            <a:avLst/>
          </a:prstGeom>
          <a:ln w="25400">
            <a:solidFill>
              <a:srgbClr val="183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5715000"/>
            <a:ext cx="1645920" cy="0"/>
          </a:xfrm>
          <a:prstGeom prst="line">
            <a:avLst/>
          </a:prstGeom>
          <a:ln w="25400">
            <a:solidFill>
              <a:srgbClr val="3B91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2450592"/>
            <a:ext cx="2651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2450592"/>
            <a:ext cx="2651760" cy="393192"/>
          </a:xfrm>
          <a:prstGeom prst="roundRect">
            <a:avLst>
              <a:gd name="adj" fmla="val 8000"/>
            </a:avLst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523744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app_user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80944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id   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username  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11296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email   UNIQUE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7647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password_hash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06824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created_at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901952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1901952"/>
            <a:ext cx="4297680" cy="393192"/>
          </a:xfrm>
          <a:prstGeom prst="roundRect">
            <a:avLst>
              <a:gd name="adj" fmla="val 8000"/>
            </a:avLst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1975104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expense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2432304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id   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1" y="2697480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user_id   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2962656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date · category · amount · description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3493008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3493008"/>
            <a:ext cx="4297680" cy="393192"/>
          </a:xfrm>
          <a:prstGeom prst="roundRect">
            <a:avLst>
              <a:gd name="adj" fmla="val 8000"/>
            </a:avLst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67144" y="3566160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1" y="4023359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id   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1" y="4288536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user_id   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1" y="4553712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category · period · limit · spent snapshot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07492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5074920"/>
            <a:ext cx="4297680" cy="393192"/>
          </a:xfrm>
          <a:prstGeom prst="roundRect">
            <a:avLst>
              <a:gd name="adj" fmla="val 8000"/>
            </a:avLst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67144" y="5148072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goal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1" y="5605272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id   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1" y="5870448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user_id  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1" y="6135624"/>
            <a:ext cx="3986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6E"/>
                </a:solidFill>
                <a:latin typeface="Aptos"/>
              </a:rPr>
              <a:t>name · target · saved · deadline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23591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6756E"/>
                </a:solidFill>
                <a:latin typeface="Aptos"/>
              </a:rPr>
              <a:t>1 : many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4" y="395020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6756E"/>
                </a:solidFill>
                <a:latin typeface="Aptos"/>
              </a:rPr>
              <a:t>1 : many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4" y="55321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6756E"/>
                </a:solidFill>
                <a:latin typeface="Aptos"/>
              </a:rPr>
              <a:t>1 : many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6756E"/>
                </a:solidFill>
                <a:latin typeface="Aptos"/>
              </a:rPr>
              <a:t>MySQL · InnoDB · foreign keys · unique usernames and emails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07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A compact MVC-style Java web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The WAR packages application code, JSP views, and runtime dependencies for Tomcat.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423160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423160"/>
            <a:ext cx="1874519" cy="109728"/>
          </a:xfrm>
          <a:prstGeom prst="rect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743200"/>
            <a:ext cx="16001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3F35"/>
                </a:solidFill>
                <a:latin typeface="Aptos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136391"/>
            <a:ext cx="1600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302A"/>
                </a:solidFill>
                <a:latin typeface="Aptos"/>
              </a:rPr>
              <a:t>JSP pages
HTML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23160"/>
            <a:ext cx="20116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423160"/>
            <a:ext cx="2011680" cy="109728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7432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634C"/>
                </a:solidFill>
                <a:latin typeface="Aptos"/>
              </a:rPr>
              <a:t>TOMCAT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136391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302A"/>
                </a:solidFill>
                <a:latin typeface="Aptos"/>
              </a:rPr>
              <a:t>Servlet routes
Session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2423160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85232" y="2423160"/>
            <a:ext cx="1828800" cy="109728"/>
          </a:xfrm>
          <a:prstGeom prst="rect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274320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91CF"/>
                </a:solidFill>
                <a:latin typeface="Aptos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136391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302A"/>
                </a:solidFill>
                <a:latin typeface="Aptos"/>
              </a:rPr>
              <a:t>Auth rules
Business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2423160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2423160"/>
            <a:ext cx="1828800" cy="109728"/>
          </a:xfrm>
          <a:prstGeom prst="rect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274320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3F35"/>
                </a:solidFill>
                <a:latin typeface="Aptos"/>
              </a:rPr>
              <a:t>REPOSITORIES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136391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302A"/>
                </a:solidFill>
                <a:latin typeface="Aptos"/>
              </a:rPr>
              <a:t>JDBC queries
User-scoped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423160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2423160"/>
            <a:ext cx="1828800" cy="109728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74320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634C"/>
                </a:solidFill>
                <a:latin typeface="Aptos"/>
              </a:rPr>
              <a:t>MYSQL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136391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302A"/>
                </a:solidFill>
                <a:latin typeface="Aptos"/>
              </a:rPr>
              <a:t>app_user
expense · budget · goal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87752" y="3017520"/>
            <a:ext cx="274320" cy="219456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937760" y="3017520"/>
            <a:ext cx="274320" cy="219456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114032" y="3017520"/>
            <a:ext cx="274320" cy="219456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290304" y="3017520"/>
            <a:ext cx="274320" cy="219456"/>
          </a:xfrm>
          <a:prstGeom prst="rightArrow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736592"/>
            <a:ext cx="10332720" cy="749808"/>
          </a:xfrm>
          <a:prstGeom prst="roundRect">
            <a:avLst>
              <a:gd name="adj" fmla="val 8000"/>
            </a:avLst>
          </a:prstGeom>
          <a:solidFill>
            <a:srgbClr val="E8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965192"/>
            <a:ext cx="992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83F35"/>
                </a:solidFill>
                <a:latin typeface="Aptos"/>
              </a:rPr>
              <a:t>Java 11+   ·   Maven WAR   ·   javax.servlet 4   ·   JSP/JSTL   ·   JDBC + HikariCP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Login dispatches by role; controllers forward to JSPs under /views.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08 / TRUST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The important boundaries are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Security comes from server-side checks and data-scoped queries—not hidden UI controls.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64008" cy="1572768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29968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4727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Role checks on protected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79776"/>
            <a:ext cx="472744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AdminServlet checks the signed-in session role before showing data or creating admins.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82880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E1EEE7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828800"/>
            <a:ext cx="64008" cy="1572768"/>
          </a:xfrm>
          <a:prstGeom prst="rect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29968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340864"/>
            <a:ext cx="4727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BCrypt password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779776"/>
            <a:ext cx="472744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PasswordUtil hashes passwords; password change checks the current password and requires 8+ characters.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02736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602736"/>
            <a:ext cx="64008" cy="1572768"/>
          </a:xfrm>
          <a:prstGeom prst="rect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803904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DATA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114800"/>
            <a:ext cx="4727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Owner-scoped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553712"/>
            <a:ext cx="472744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Expense lookup, update, and delete repository methods include both record ID and user 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602736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BEAE5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3602736"/>
            <a:ext cx="64008" cy="1572768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803904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14800"/>
            <a:ext cx="4727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Environment-based DB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553712"/>
            <a:ext cx="472744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56E"/>
                </a:solidFill>
                <a:latin typeface="Aptos"/>
              </a:rPr>
              <a:t>FINANCE_DB_URL, FINANCE_DB_USER, and FINANCE_DB_PASSWORD stay outside source code.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5376672"/>
            <a:ext cx="10607040" cy="603504"/>
          </a:xfrm>
          <a:prstGeom prst="roundRect">
            <a:avLst>
              <a:gd name="adj" fmla="val 8000"/>
            </a:avLst>
          </a:prstGeom>
          <a:solidFill>
            <a:srgbClr val="1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477256"/>
            <a:ext cx="10168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CE779"/>
                </a:solidFill>
                <a:latin typeface="Aptos"/>
              </a:rPr>
              <a:t>DATA NOTE  /  budget.spent_amount is stored and incremented when an expense is added.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705856"/>
            <a:ext cx="10168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Expense edits/deletes are not reconciled yet, so this value can drift; add recomputation and tests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09 / RUN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Build the WAR, deploy to Tomcat, open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The repository includes setup instructions in README.md and a manual evaluator walkthrough in TESTING.md.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10</a:t>
            </a:r>
          </a:p>
        </p:txBody>
      </p:sp>
      <p:sp>
        <p:nvSpPr>
          <p:cNvPr id="8" name="Oval 7"/>
          <p:cNvSpPr/>
          <p:nvPr/>
        </p:nvSpPr>
        <p:spPr>
          <a:xfrm>
            <a:off x="832103" y="2157984"/>
            <a:ext cx="438912" cy="438912"/>
          </a:xfrm>
          <a:prstGeom prst="ellipse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28600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71016" y="2377440"/>
            <a:ext cx="1965960" cy="0"/>
          </a:xfrm>
          <a:prstGeom prst="line">
            <a:avLst/>
          </a:prstGeom>
          <a:ln w="254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" y="281635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55264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Java 11+ · Maven
MySQL 8 · Tomcat 9</a:t>
            </a:r>
          </a:p>
        </p:txBody>
      </p:sp>
      <p:sp>
        <p:nvSpPr>
          <p:cNvPr id="13" name="Oval 12"/>
          <p:cNvSpPr/>
          <p:nvPr/>
        </p:nvSpPr>
        <p:spPr>
          <a:xfrm>
            <a:off x="3648456" y="2157984"/>
            <a:ext cx="438912" cy="438912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28600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377440"/>
            <a:ext cx="1965960" cy="0"/>
          </a:xfrm>
          <a:prstGeom prst="line">
            <a:avLst/>
          </a:prstGeom>
          <a:ln w="254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84448" y="281635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Create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255264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Run src/main/resources/db/schema.sql
Set FINANCE_DB_* for Tomcat</a:t>
            </a:r>
          </a:p>
        </p:txBody>
      </p:sp>
      <p:sp>
        <p:nvSpPr>
          <p:cNvPr id="18" name="Oval 17"/>
          <p:cNvSpPr/>
          <p:nvPr/>
        </p:nvSpPr>
        <p:spPr>
          <a:xfrm>
            <a:off x="6464808" y="2157984"/>
            <a:ext cx="438912" cy="438912"/>
          </a:xfrm>
          <a:prstGeom prst="ellipse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8600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03720" y="2377440"/>
            <a:ext cx="1965960" cy="0"/>
          </a:xfrm>
          <a:prstGeom prst="line">
            <a:avLst/>
          </a:prstGeom>
          <a:ln w="254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281635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55264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mvn clean package
Build target/personal-finance-web.war</a:t>
            </a:r>
          </a:p>
        </p:txBody>
      </p:sp>
      <p:sp>
        <p:nvSpPr>
          <p:cNvPr id="23" name="Oval 22"/>
          <p:cNvSpPr/>
          <p:nvPr/>
        </p:nvSpPr>
        <p:spPr>
          <a:xfrm>
            <a:off x="9281160" y="2157984"/>
            <a:ext cx="438912" cy="438912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81635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D302A"/>
                </a:solidFill>
                <a:latin typeface="Georgia"/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55264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Copy WAR to Tomcat webapps
Open /personal-finance-web/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617720"/>
            <a:ext cx="10652760" cy="1024128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E8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82803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DATABASE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9145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Schema seeds demo roles for local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202936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6756E"/>
                </a:solidFill>
                <a:latin typeface="Aptos"/>
              </a:rPr>
              <a:t>Change demo passwords before public use; keep real DB secrets in environment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10 /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A clear walkthrough; coverage can keep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Seven focused unit tests now cover password hashing and authentication behavior.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3703320" cy="3611880"/>
          </a:xfrm>
          <a:prstGeom prst="roundRect">
            <a:avLst>
              <a:gd name="adj" fmla="val 8000"/>
            </a:avLst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CE779"/>
                </a:solidFill>
                <a:latin typeface="Aptos"/>
              </a:rPr>
              <a:t>BUILD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517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29584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E4DD"/>
                </a:solidFill>
                <a:latin typeface="Aptos"/>
              </a:rPr>
              <a:t>mvn clean package
WAR artifact: target/personal-finance-web.war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892040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8CFC2"/>
                </a:solidFill>
                <a:latin typeface="Aptos"/>
              </a:rPr>
              <a:t>Build verified for this review deck on 02 Oct 2026.</a:t>
            </a:r>
          </a:p>
        </p:txBody>
      </p:sp>
      <p:sp>
        <p:nvSpPr>
          <p:cNvPr id="13" name="Oval 12"/>
          <p:cNvSpPr/>
          <p:nvPr/>
        </p:nvSpPr>
        <p:spPr>
          <a:xfrm>
            <a:off x="4983480" y="2020824"/>
            <a:ext cx="109728" cy="109728"/>
          </a:xfrm>
          <a:prstGeom prst="ellipse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993392"/>
            <a:ext cx="59070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Create a regular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267712"/>
            <a:ext cx="59070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Public registration assigns USER; log in and review the dashboard.</a:t>
            </a:r>
          </a:p>
        </p:txBody>
      </p:sp>
      <p:sp>
        <p:nvSpPr>
          <p:cNvPr id="16" name="Oval 15"/>
          <p:cNvSpPr/>
          <p:nvPr/>
        </p:nvSpPr>
        <p:spPr>
          <a:xfrm>
            <a:off x="4983480" y="3090672"/>
            <a:ext cx="109728" cy="109728"/>
          </a:xfrm>
          <a:prstGeom prst="ellipse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3063240"/>
            <a:ext cx="59070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Exercise the core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3337560"/>
            <a:ext cx="59070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Add an expense, budget, and goal; verify lists and dashboard counts.</a:t>
            </a:r>
          </a:p>
        </p:txBody>
      </p:sp>
      <p:sp>
        <p:nvSpPr>
          <p:cNvPr id="19" name="Oval 18"/>
          <p:cNvSpPr/>
          <p:nvPr/>
        </p:nvSpPr>
        <p:spPr>
          <a:xfrm>
            <a:off x="4983480" y="4160520"/>
            <a:ext cx="109728" cy="109728"/>
          </a:xfrm>
          <a:prstGeom prst="ellipse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4133087"/>
            <a:ext cx="59070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D302A"/>
                </a:solidFill>
                <a:latin typeface="Aptos"/>
              </a:rPr>
              <a:t>Check access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4407407"/>
            <a:ext cx="59070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After logout, request protected routes; try cross-user record IDs.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5806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56E"/>
                </a:solidFill>
                <a:latin typeface="Aptos"/>
              </a:rPr>
              <a:t>Next: repository/DB integration tests and data-isolation coverage. The manual walkthrough remains in TESTING.md.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297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11 / 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4980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D302A"/>
                </a:solidFill>
                <a:latin typeface="Georgia"/>
              </a:rPr>
              <a:t>Planned ownership across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6E"/>
                </a:solidFill>
                <a:latin typeface="Aptos"/>
              </a:rPr>
              <a:t>A proposed division of responsibility; update the slide as each contribution is completed.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56E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6756E"/>
                </a:solidFill>
                <a:latin typeface="Aptos"/>
              </a:rPr>
              <a:t>02 OCT 2026  ·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38528"/>
            <a:ext cx="338328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3383280" cy="91440"/>
          </a:xfrm>
          <a:prstGeom prst="rect">
            <a:avLst/>
          </a:prstGeom>
          <a:solidFill>
            <a:srgbClr val="18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2221992"/>
            <a:ext cx="530352" cy="530352"/>
          </a:xfrm>
          <a:prstGeom prst="ellipse">
            <a:avLst/>
          </a:prstGeom>
          <a:solidFill>
            <a:srgbClr val="E1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95728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3F35"/>
                </a:solidFill>
                <a:latin typeface="Aptos"/>
              </a:rPr>
              <a:t>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31343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D302A"/>
                </a:solidFill>
                <a:latin typeface="Georgia"/>
              </a:rPr>
              <a:t>Sachin Bhati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2852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83F35"/>
                </a:solidFill>
                <a:latin typeface="Aptos"/>
              </a:rPr>
              <a:t>JAVA BACKEND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64992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Authentication, role guards, password changes, and service behavior.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4261104"/>
            <a:ext cx="2871216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445312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D302A"/>
                </a:solidFill>
                <a:latin typeface="Aptos"/>
              </a:rPr>
              <a:t>STRETCH: reconcile budgets after expense edits/deletes; add regression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1938528"/>
            <a:ext cx="338328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1938528"/>
            <a:ext cx="3383280" cy="91440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5152" y="2221992"/>
            <a:ext cx="530352" cy="530352"/>
          </a:xfrm>
          <a:prstGeom prst="ellipse">
            <a:avLst/>
          </a:prstGeom>
          <a:solidFill>
            <a:srgbClr val="FB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2395728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D9634C"/>
                </a:solidFill>
                <a:latin typeface="Aptos"/>
              </a:rPr>
              <a:t>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31343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D302A"/>
                </a:solidFill>
                <a:latin typeface="Georgia"/>
              </a:rPr>
              <a:t>Aayush Bagauli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44368"/>
            <a:ext cx="2852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DATA &amp;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64992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MySQL schema, JDBC persistence and owner scoping; Tomcat/Maven setup and verification.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63440" y="4261104"/>
            <a:ext cx="2871216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63440" y="445312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D302A"/>
                </a:solidFill>
                <a:latin typeface="Aptos"/>
              </a:rPr>
              <a:t>Own the end-to-end checklist, setup notes, and review presentation.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1938528"/>
            <a:ext cx="3383280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938528"/>
            <a:ext cx="3383280" cy="91440"/>
          </a:xfrm>
          <a:prstGeom prst="rect">
            <a:avLst/>
          </a:prstGeom>
          <a:solidFill>
            <a:srgbClr val="3B9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02752" y="2221992"/>
            <a:ext cx="530352" cy="530352"/>
          </a:xfrm>
          <a:prstGeom prst="ellipse">
            <a:avLst/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395728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B91CF"/>
                </a:solidFill>
                <a:latin typeface="Aptos"/>
              </a:rPr>
              <a:t>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31343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D302A"/>
                </a:solidFill>
                <a:latin typeface="Georgia"/>
              </a:rPr>
              <a:t>Ayush Pandey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44368"/>
            <a:ext cx="2852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B91CF"/>
                </a:solidFill>
                <a:latin typeface="Aptos"/>
              </a:rPr>
              <a:t>FRONTEND &amp;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64992"/>
            <a:ext cx="28529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56E"/>
                </a:solidFill>
                <a:latin typeface="Aptos"/>
              </a:rPr>
              <a:t>JSP/CSS screens, responsive forms and tables, dashboard workflows, and accessibility checks.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4261104"/>
            <a:ext cx="2871216" cy="0"/>
          </a:xfrm>
          <a:prstGeom prst="line">
            <a:avLst/>
          </a:prstGeom>
          <a:ln w="1016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21040" y="445312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D302A"/>
                </a:solidFill>
                <a:latin typeface="Aptos"/>
              </a:rPr>
              <a:t>Capture and review the primary user and admin flows at desktop and mobile sizes.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" y="5596128"/>
            <a:ext cx="10652760" cy="438912"/>
          </a:xfrm>
          <a:prstGeom prst="roundRect">
            <a:avLst>
              <a:gd name="adj" fmla="val 8000"/>
            </a:avLst>
          </a:prstGeom>
          <a:solidFill>
            <a:srgbClr val="1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742432"/>
            <a:ext cx="10168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PLANNED RESPONSIBILITIES  ·  Confirm task handoffs as work is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6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CE779"/>
                </a:solidFill>
                <a:latin typeface="Apto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53312"/>
            <a:ext cx="7772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A small finance app,
with clear next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E4DD"/>
                </a:solidFill>
                <a:latin typeface="Aptos"/>
              </a:rPr>
              <a:t>Track everyday records. Keep personal data scoped. Give reviewers a predictable path through the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81328"/>
            <a:ext cx="3154680" cy="3474720"/>
          </a:xfrm>
          <a:prstGeom prst="roundRect">
            <a:avLst>
              <a:gd name="adj" fmla="val 8000"/>
            </a:avLst>
          </a:prstGeom>
          <a:solidFill>
            <a:srgbClr val="24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810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CE779"/>
                </a:solidFill>
                <a:latin typeface="Aptos"/>
              </a:rPr>
              <a:t>REVIEW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240280"/>
            <a:ext cx="256032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Register as USER
↓
Log a transaction
↓
Plan a budget or goal
↓
Review as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20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634C"/>
                </a:solidFill>
                <a:latin typeface="Aptos"/>
              </a:rPr>
              <a:t>NEXT QUALITY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68112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FC2"/>
                </a:solidFill>
                <a:latin typeface="Aptos"/>
              </a:rPr>
              <a:t>Expand coverage to repository/database integration tests, then repeat the documented data-isolation checks.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73952"/>
            <a:ext cx="10899648" cy="0"/>
          </a:xfrm>
          <a:prstGeom prst="line">
            <a:avLst/>
          </a:prstGeom>
          <a:ln w="10160">
            <a:solidFill>
              <a:srgbClr val="5272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6556248"/>
            <a:ext cx="7040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8CFC2"/>
                </a:solidFill>
                <a:latin typeface="Aptos"/>
              </a:rPr>
              <a:t>PERSONAL FINANCE MANAGER  / 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5624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8CFC2"/>
                </a:solidFill>
                <a:latin typeface="Aptos"/>
              </a:rPr>
              <a:t>02 OCT 2026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Manager — Project Review</dc:title>
  <dc:subject>Java web application project presentation</dc:subject>
  <dc:creator>Personal Finance Manager team</dc:creator>
  <cp:keywords>Java, Tomcat, MySQL, finance, project review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